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81" r:id="rId7"/>
    <p:sldId id="261" r:id="rId8"/>
    <p:sldId id="282" r:id="rId9"/>
    <p:sldId id="263" r:id="rId10"/>
    <p:sldId id="285" r:id="rId11"/>
    <p:sldId id="265" r:id="rId12"/>
    <p:sldId id="293" r:id="rId13"/>
    <p:sldId id="283" r:id="rId14"/>
    <p:sldId id="267" r:id="rId15"/>
    <p:sldId id="268" r:id="rId16"/>
    <p:sldId id="269" r:id="rId17"/>
    <p:sldId id="271" r:id="rId18"/>
    <p:sldId id="287" r:id="rId19"/>
    <p:sldId id="284" r:id="rId20"/>
    <p:sldId id="289" r:id="rId21"/>
    <p:sldId id="273" r:id="rId22"/>
    <p:sldId id="274" r:id="rId23"/>
    <p:sldId id="291" r:id="rId24"/>
    <p:sldId id="275" r:id="rId25"/>
    <p:sldId id="288" r:id="rId26"/>
    <p:sldId id="276" r:id="rId27"/>
    <p:sldId id="277" r:id="rId28"/>
    <p:sldId id="296" r:id="rId29"/>
    <p:sldId id="295" r:id="rId30"/>
    <p:sldId id="290" r:id="rId31"/>
    <p:sldId id="278" r:id="rId32"/>
    <p:sldId id="292" r:id="rId33"/>
    <p:sldId id="294" r:id="rId34"/>
    <p:sldId id="279" r:id="rId35"/>
    <p:sldId id="28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CB613-AC1F-456D-ADE9-4B3B9486B24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5C93A-B8FF-41D3-B07F-EA09F8771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84785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Hyperspectral Tensor Decomposition &amp; Neural Implicit Modeling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Dataset: Salinas (AVIRIS, 224 Bands) 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By </a:t>
            </a:r>
            <a:r>
              <a:rPr lang="en-US" sz="1800" dirty="0">
                <a:solidFill>
                  <a:schemeClr val="tx1"/>
                </a:solidFill>
              </a:rPr>
              <a:t>Aarav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219200"/>
          </a:xfrm>
        </p:spPr>
        <p:txBody>
          <a:bodyPr/>
          <a:lstStyle/>
          <a:p>
            <a:r>
              <a:rPr lang="en-US" dirty="0" smtClean="0"/>
              <a:t>Dataset &amp; Motivation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600200"/>
            <a:ext cx="6400800" cy="3429000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AVIRIS Salinas hyperspectral cube: 512 × 217 × 224, 400–2500 nm, ~3.7 m spatial resolution.</a:t>
            </a:r>
          </a:p>
          <a:p>
            <a:pPr marL="457200" indent="-4572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Diverse agricultural classes: lettuce (multiple stages), broccoli, vineyard rows, stubble, fallow soils.</a:t>
            </a:r>
          </a:p>
          <a:p>
            <a:pPr marL="457200" indent="-4572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Nonlinear reflectance drivers: water absorption, chlorophyll content, soil composition, structural anisotropy.</a:t>
            </a:r>
          </a:p>
          <a:p>
            <a:pPr marL="457200" indent="-457200" algn="l">
              <a:lnSpc>
                <a:spcPct val="80000"/>
              </a:lnSpc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High spectral variability → strong spatial–spectral structure suitable for tensor decomposition analysis.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/>
          <a:lstStyle/>
          <a:p>
            <a:r>
              <a:rPr lang="en-US" dirty="0" smtClean="0"/>
              <a:t>Processing Pipeline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19200"/>
            <a:ext cx="8001000" cy="4419600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Load official Salinas .mat cube: 512 × 217 × 224.</a:t>
            </a:r>
          </a:p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Normalize reflectance values to [0, 1].</a:t>
            </a:r>
          </a:p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Remove AVIRIS water-absorption bands: 108–112, 154–167, 224.</a:t>
            </a:r>
          </a:p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Optional Gaussian noise (</a:t>
            </a:r>
            <a:r>
              <a:rPr lang="el-GR" sz="2400" dirty="0" smtClean="0">
                <a:solidFill>
                  <a:schemeClr val="tx1"/>
                </a:solidFill>
              </a:rPr>
              <a:t>σ = 0.01) </a:t>
            </a:r>
            <a:r>
              <a:rPr lang="en-US" sz="2400" dirty="0" smtClean="0">
                <a:solidFill>
                  <a:schemeClr val="tx1"/>
                </a:solidFill>
              </a:rPr>
              <a:t>for </a:t>
            </a:r>
            <a:r>
              <a:rPr lang="en-US" sz="2400" dirty="0" err="1" smtClean="0">
                <a:solidFill>
                  <a:schemeClr val="tx1"/>
                </a:solidFill>
              </a:rPr>
              <a:t>denoising</a:t>
            </a:r>
            <a:r>
              <a:rPr lang="en-US" sz="2400" dirty="0" smtClean="0">
                <a:solidFill>
                  <a:schemeClr val="tx1"/>
                </a:solidFill>
              </a:rPr>
              <a:t> tests.</a:t>
            </a:r>
          </a:p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Convert cube to coordinate form (x, y, </a:t>
            </a:r>
            <a:r>
              <a:rPr lang="el-GR" sz="2400" dirty="0" smtClean="0">
                <a:solidFill>
                  <a:schemeClr val="tx1"/>
                </a:solidFill>
              </a:rPr>
              <a:t>λ) </a:t>
            </a:r>
            <a:r>
              <a:rPr lang="en-US" sz="2400" dirty="0" smtClean="0">
                <a:solidFill>
                  <a:schemeClr val="tx1"/>
                </a:solidFill>
              </a:rPr>
              <a:t>for INR.</a:t>
            </a:r>
          </a:p>
          <a:p>
            <a:pPr marL="457200" indent="-4572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Diagnostics: band-wise SNR, PCA variance, effective-rank estimation (&gt; 40).</a:t>
            </a:r>
          </a:p>
          <a:p>
            <a:pPr algn="l"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Reconstruction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400" dirty="0" smtClean="0"/>
              <a:t>SVD: Per-band 2D decomposition; rank-k ≈ 50.</a:t>
            </a:r>
          </a:p>
          <a:p>
            <a:pPr marL="457200" indent="-457200"/>
            <a:r>
              <a:rPr lang="en-US" sz="2400" dirty="0" smtClean="0"/>
              <a:t>CP: Rank-15 PARAFAC model; interpretable spectral </a:t>
            </a:r>
            <a:r>
              <a:rPr lang="en-US" sz="2400" dirty="0" err="1" smtClean="0"/>
              <a:t>endmembers</a:t>
            </a:r>
            <a:r>
              <a:rPr lang="en-US" sz="2400" dirty="0" smtClean="0"/>
              <a:t>.</a:t>
            </a:r>
          </a:p>
          <a:p>
            <a:pPr marL="457200" indent="-457200"/>
            <a:r>
              <a:rPr lang="en-US" sz="2400" dirty="0" smtClean="0"/>
              <a:t>Tucker: </a:t>
            </a:r>
            <a:r>
              <a:rPr lang="en-US" sz="2400" dirty="0" err="1" smtClean="0"/>
              <a:t>Multilinear</a:t>
            </a:r>
            <a:r>
              <a:rPr lang="en-US" sz="2400" dirty="0" smtClean="0"/>
              <a:t> ranks (50 × 50 × 20); models spatial–spectral interactions via a core tensor.</a:t>
            </a:r>
          </a:p>
          <a:p>
            <a:pPr marL="457200" indent="-457200"/>
            <a:r>
              <a:rPr lang="en-US" sz="2400" dirty="0" smtClean="0"/>
              <a:t>Neural INR: MLP with SIREN activations, trained on (x, y, </a:t>
            </a:r>
            <a:r>
              <a:rPr lang="el-GR" sz="2400" dirty="0" smtClean="0"/>
              <a:t>λ) </a:t>
            </a:r>
            <a:r>
              <a:rPr lang="en-US" sz="2400" dirty="0" smtClean="0"/>
              <a:t>coordinates with ~250k samples (MSE loss).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TABLE 1 — Core Quantitative Model Comparison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PSNR (dB)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SSIM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SAM (rad)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R²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SNR (dB)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RMSE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MAE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SVD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40.61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0.9939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0.00932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0.00653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CP-15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33.70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18.26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0.02066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0.01064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39.14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0.945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0.0366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23.70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0.00609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18.30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0.414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0.758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−0.035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0.12159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0.09541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401" y="38862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Summarizes </a:t>
            </a:r>
            <a:r>
              <a:rPr lang="en-US" dirty="0" smtClean="0"/>
              <a:t>PSNR, SSIM, SAM, and R² to compare overall reconstruction quality  </a:t>
            </a:r>
            <a:r>
              <a:rPr lang="en-US" dirty="0" smtClean="0"/>
              <a:t>across SVD , </a:t>
            </a:r>
            <a:r>
              <a:rPr lang="en-US" dirty="0" smtClean="0"/>
              <a:t>CP, Tucker, and Neural INR.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Figure 1-SVD Singular values</a:t>
            </a:r>
            <a:endParaRPr lang="en-US" sz="3200" dirty="0"/>
          </a:p>
        </p:txBody>
      </p:sp>
      <p:pic>
        <p:nvPicPr>
          <p:cNvPr id="4" name="Content Placeholder 3" descr="svd_singular_value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1143000"/>
            <a:ext cx="6349450" cy="48307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SVD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400" dirty="0" smtClean="0"/>
              <a:t>Gradual singular value decay → moderate low-rank structure (effective rank 15–20).</a:t>
            </a:r>
          </a:p>
          <a:p>
            <a:pPr marL="457200" indent="-457200"/>
            <a:r>
              <a:rPr lang="en-US" sz="2400" dirty="0" smtClean="0"/>
              <a:t>Strengths: noise suppression, stable global reconstruction.</a:t>
            </a:r>
          </a:p>
          <a:p>
            <a:pPr marL="457200" indent="-457200"/>
            <a:r>
              <a:rPr lang="en-US" sz="2400" dirty="0" smtClean="0"/>
              <a:t>Limitations: no spatial–spectral coupling; </a:t>
            </a:r>
            <a:r>
              <a:rPr lang="en-US" sz="2400" dirty="0" err="1" smtClean="0"/>
              <a:t>oversmoothing</a:t>
            </a:r>
            <a:r>
              <a:rPr lang="en-US" sz="2400" dirty="0" smtClean="0"/>
              <a:t> of high-frequency spectral features.</a:t>
            </a:r>
          </a:p>
          <a:p>
            <a:pPr marL="457200" indent="-457200"/>
            <a:r>
              <a:rPr lang="en-US" sz="2400" dirty="0" smtClean="0"/>
              <a:t>Practical use: strong linear baseline.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Figure 2 -CP Spectral signatures</a:t>
            </a:r>
            <a:endParaRPr lang="en-US" sz="2800" dirty="0"/>
          </a:p>
        </p:txBody>
      </p:sp>
      <p:pic>
        <p:nvPicPr>
          <p:cNvPr id="4" name="Content Placeholder 3" descr="cp_spectral_signature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2942" y="1600200"/>
            <a:ext cx="7298116" cy="452596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 (PARAFAC)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400" dirty="0" smtClean="0"/>
              <a:t>Rank-1 outer-product factors yield interpretable spectral </a:t>
            </a:r>
            <a:r>
              <a:rPr lang="en-US" sz="2400" dirty="0" err="1" smtClean="0"/>
              <a:t>endmembers</a:t>
            </a:r>
            <a:r>
              <a:rPr lang="en-US" sz="2400" dirty="0" smtClean="0"/>
              <a:t>.</a:t>
            </a:r>
          </a:p>
          <a:p>
            <a:pPr marL="457200" indent="-457200"/>
            <a:r>
              <a:rPr lang="en-US" sz="2400" dirty="0" smtClean="0"/>
              <a:t>Components capture vegetation absorption (~950, 1200 nm), soil moisture behavior, canopy structure.</a:t>
            </a:r>
          </a:p>
          <a:p>
            <a:pPr marL="457200" indent="-457200"/>
            <a:r>
              <a:rPr lang="en-US" sz="2400" dirty="0" smtClean="0"/>
              <a:t>Uniqueness → physically meaningful material decomposition.</a:t>
            </a:r>
          </a:p>
          <a:p>
            <a:pPr marL="457200" indent="-457200"/>
            <a:r>
              <a:rPr lang="en-US" sz="2400" dirty="0" smtClean="0"/>
              <a:t>Limitations: sensitive to initialization; rank too low → </a:t>
            </a:r>
            <a:r>
              <a:rPr lang="en-US" sz="2400" dirty="0" err="1" smtClean="0"/>
              <a:t>underfitting</a:t>
            </a:r>
            <a:r>
              <a:rPr lang="en-US" sz="2400" dirty="0" smtClean="0"/>
              <a:t>; rank too high → degeneracy.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Figure 3 – Tucker Core Slices</a:t>
            </a:r>
            <a:endParaRPr lang="en-US" sz="3200" dirty="0"/>
          </a:p>
        </p:txBody>
      </p:sp>
      <p:pic>
        <p:nvPicPr>
          <p:cNvPr id="4" name="Content Placeholder 3" descr="tucker_core_slic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762" y="1600200"/>
            <a:ext cx="7846476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Tucker Analysis (Core Structure)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400" dirty="0" smtClean="0"/>
              <a:t>Factorizes cube into spatial-row, spatial-column, and spectral factors with a core tensor.</a:t>
            </a:r>
          </a:p>
          <a:p>
            <a:pPr marL="457200" indent="-457200"/>
            <a:r>
              <a:rPr lang="en-US" sz="2400" dirty="0" smtClean="0"/>
              <a:t>Core slices show energy concentrated in upper-left, indicating dominance of low-frequency interactions.</a:t>
            </a:r>
          </a:p>
          <a:p>
            <a:pPr marL="457200" indent="-457200"/>
            <a:r>
              <a:rPr lang="en-US" sz="2400" dirty="0" smtClean="0"/>
              <a:t>Strong </a:t>
            </a:r>
            <a:r>
              <a:rPr lang="en-US" sz="2400" dirty="0" err="1" smtClean="0"/>
              <a:t>sparsity</a:t>
            </a:r>
            <a:r>
              <a:rPr lang="en-US" sz="2400" dirty="0" smtClean="0"/>
              <a:t> across core → low-dimensional manifold structure.</a:t>
            </a:r>
          </a:p>
          <a:p>
            <a:pPr marL="457200" indent="-457200"/>
            <a:r>
              <a:rPr lang="en-US" sz="2400" dirty="0" smtClean="0"/>
              <a:t>Higher spectral indices (e.g., k = 13, 16) show minimal coupling → fine detail captured primarily by spectral factors.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Tucker Analysis (Performance)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Spatial factors recover crop rows, field boundaries, soil–vegetation transitions.</a:t>
            </a:r>
          </a:p>
          <a:p>
            <a:pPr marL="457200" indent="-457200"/>
            <a:r>
              <a:rPr lang="en-US" sz="2600" dirty="0" smtClean="0"/>
              <a:t>Spectral factors preserve key features: chlorophyll (~670 nm), water (970–1200 nm), NIR plateau.</a:t>
            </a:r>
          </a:p>
          <a:p>
            <a:pPr marL="457200" indent="-457200"/>
            <a:r>
              <a:rPr lang="en-US" sz="2600" dirty="0" smtClean="0"/>
              <a:t>Performance: SSIM ≈ 0.98, PSNR ≈ 39.2 dB, SAM ≈ 0.038 rad.</a:t>
            </a:r>
          </a:p>
          <a:p>
            <a:pPr marL="457200" indent="-457200"/>
            <a:r>
              <a:rPr lang="en-US" sz="2600" dirty="0" smtClean="0"/>
              <a:t>Best spatial–spectral fidelity among all methods; computationally heavier but most accurate.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Figure 4 - Example spectra</a:t>
            </a:r>
            <a:endParaRPr lang="en-US" sz="3200" dirty="0"/>
          </a:p>
        </p:txBody>
      </p:sp>
      <p:pic>
        <p:nvPicPr>
          <p:cNvPr id="4" name="Content Placeholder 3" descr="example_spectra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00200" y="1600200"/>
            <a:ext cx="6400800" cy="46482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Neural INR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Reconstructed spectra show high-frequency noise, missing key absorption valleys.</a:t>
            </a:r>
          </a:p>
          <a:p>
            <a:pPr marL="457200" indent="-457200"/>
            <a:r>
              <a:rPr lang="en-US" sz="2600" dirty="0" smtClean="0"/>
              <a:t>Failure causes:</a:t>
            </a:r>
          </a:p>
          <a:p>
            <a:pPr marL="457200" indent="-457200"/>
            <a:r>
              <a:rPr lang="en-US" sz="2600" dirty="0" smtClean="0"/>
              <a:t>No spectral inductive bias for high-rank structure.</a:t>
            </a:r>
          </a:p>
          <a:p>
            <a:pPr marL="457200" indent="-457200"/>
            <a:r>
              <a:rPr lang="en-US" sz="2600" dirty="0" smtClean="0"/>
              <a:t>Neural spectral bias toward low-frequency functions.</a:t>
            </a:r>
          </a:p>
          <a:p>
            <a:pPr marL="457200" indent="-457200"/>
            <a:r>
              <a:rPr lang="en-US" sz="2600" dirty="0" smtClean="0"/>
              <a:t>No tensor-based initialization → poor minima.</a:t>
            </a:r>
          </a:p>
          <a:p>
            <a:pPr marL="457200" indent="-457200"/>
            <a:r>
              <a:rPr lang="en-US" sz="2600" dirty="0" smtClean="0"/>
              <a:t>Insufficient coverage of spectral dependencies.</a:t>
            </a:r>
          </a:p>
          <a:p>
            <a:pPr marL="457200" indent="-457200"/>
            <a:r>
              <a:rPr lang="en-US" sz="2600" dirty="0" smtClean="0"/>
              <a:t>Metrics: SSIM ≈ 0.41, SAM ≈ 0.76 </a:t>
            </a:r>
            <a:r>
              <a:rPr lang="en-US" sz="2600" dirty="0" err="1" smtClean="0"/>
              <a:t>rad</a:t>
            </a:r>
            <a:r>
              <a:rPr lang="en-US" sz="2600" dirty="0" smtClean="0"/>
              <a:t> → severe reconstruction degradation.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Figure 5 – Metrics Comparison</a:t>
            </a:r>
            <a:endParaRPr lang="en-US" sz="3200" dirty="0"/>
          </a:p>
        </p:txBody>
      </p:sp>
      <p:pic>
        <p:nvPicPr>
          <p:cNvPr id="4" name="Content Placeholder 3" descr="metrics_comparis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595098"/>
            <a:ext cx="8229600" cy="2536166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PSNR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SVD ≈ 41 dB: excellent global fidelity.</a:t>
            </a:r>
          </a:p>
          <a:p>
            <a:pPr marL="457200" indent="-457200"/>
            <a:r>
              <a:rPr lang="en-US" sz="2600" dirty="0" smtClean="0"/>
              <a:t>Tucker ≈ 39 dB: strong local + global fidelity.</a:t>
            </a:r>
          </a:p>
          <a:p>
            <a:pPr marL="457200" indent="-457200"/>
            <a:r>
              <a:rPr lang="en-US" sz="2600" dirty="0" smtClean="0"/>
              <a:t>CP ≈ 34 dB: limited by component mixing.</a:t>
            </a:r>
          </a:p>
          <a:p>
            <a:pPr marL="457200" indent="-457200"/>
            <a:r>
              <a:rPr lang="en-US" sz="2600" dirty="0" smtClean="0"/>
              <a:t>INR ≈ 18 dB: large error relative to ground truth.</a:t>
            </a:r>
          </a:p>
          <a:p>
            <a:pPr marL="457200" indent="-457200"/>
            <a:r>
              <a:rPr lang="en-US" sz="2600" dirty="0" smtClean="0"/>
              <a:t>Summary: tensor methods provide stable, high-fidelity reconstruction.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SSIM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Tucker ≈ 0.98: best spatial structure preservation.</a:t>
            </a:r>
          </a:p>
          <a:p>
            <a:pPr marL="457200" indent="-457200"/>
            <a:r>
              <a:rPr lang="en-US" sz="2600" dirty="0" smtClean="0"/>
              <a:t>SVD ≈ 0.94: coherent spatial recovery, slight smoothing.</a:t>
            </a:r>
          </a:p>
          <a:p>
            <a:pPr marL="457200" indent="-457200"/>
            <a:r>
              <a:rPr lang="en-US" sz="2600" dirty="0" smtClean="0"/>
              <a:t>CP ≈ 0.91: minor distortions in low-intensity areas.</a:t>
            </a:r>
          </a:p>
          <a:p>
            <a:pPr marL="457200" indent="-457200"/>
            <a:r>
              <a:rPr lang="en-US" sz="2600" dirty="0" smtClean="0"/>
              <a:t>INR ≈ 0.41: spatial incoherence.</a:t>
            </a:r>
          </a:p>
          <a:p>
            <a:pPr marL="457200" indent="-457200"/>
            <a:r>
              <a:rPr lang="en-US" sz="2600" dirty="0" smtClean="0"/>
              <a:t>Summary: Tucker yields the strongest spatial modeling.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TABLE 2 — Error Distributions (from residual histograms &amp; SAM histograms)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382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1219200"/>
                <a:gridCol w="1447800"/>
                <a:gridCol w="1230085"/>
                <a:gridCol w="1175657"/>
                <a:gridCol w="132805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Residual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Residual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Residual Distribution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 Std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 Distribution Type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SVD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Gaussian, narrow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tight peak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 &gt;0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Slightly skewed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Narrow, slightly right-skewed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Highly Gaussian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tight peak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&gt;&gt;0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Extremely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Multi-modal, noisy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Broad asymmetric distribution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5867400"/>
            <a:ext cx="8763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Condenses </a:t>
            </a:r>
            <a:r>
              <a:rPr lang="en-US" dirty="0" smtClean="0"/>
              <a:t>residual and SAM distribution behavior, highlighting which models yield unbiased, tightly clustered errors versus unstable, multi-modal failures.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Figure 6 – SAM Histograms</a:t>
            </a:r>
            <a:endParaRPr lang="en-US" sz="3200" dirty="0"/>
          </a:p>
        </p:txBody>
      </p:sp>
      <p:pic>
        <p:nvPicPr>
          <p:cNvPr id="4" name="Content Placeholder 3" descr="sam_histogram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219200"/>
            <a:ext cx="7467600" cy="2973211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TABLE </a:t>
            </a:r>
            <a:r>
              <a:rPr lang="en-US" sz="3200" dirty="0" smtClean="0"/>
              <a:t>3 </a:t>
            </a:r>
            <a:r>
              <a:rPr lang="en-US" sz="3200" dirty="0" smtClean="0"/>
              <a:t>— Spectral Fidelity (SAM + Per-Band Behavior)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 (rad)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Low-Wavelength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High-Wavelength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Absorption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Spectral Smoothness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SVD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Acceptable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Smooth but oversmoothed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0.029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Excellent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Excellent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Very accurate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Slightly noisy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Well-preserved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balance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noise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5715000"/>
            <a:ext cx="8915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Reports </a:t>
            </a:r>
            <a:r>
              <a:rPr lang="en-US" dirty="0" smtClean="0"/>
              <a:t>SAM-based spectral shape accuracy and per-band behavior, showing CP’s superior preservation of spectral identity relative to SVD, Tucker, and INR.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CP ≈ 0.029 </a:t>
            </a:r>
            <a:r>
              <a:rPr lang="en-US" sz="2600" dirty="0" err="1" smtClean="0"/>
              <a:t>rad</a:t>
            </a:r>
            <a:r>
              <a:rPr lang="en-US" sz="2600" dirty="0" smtClean="0"/>
              <a:t>: most accurate spectral shape (</a:t>
            </a:r>
            <a:r>
              <a:rPr lang="en-US" sz="2600" dirty="0" err="1" smtClean="0"/>
              <a:t>endmember</a:t>
            </a:r>
            <a:r>
              <a:rPr lang="en-US" sz="2600" dirty="0" smtClean="0"/>
              <a:t> consistency).</a:t>
            </a:r>
          </a:p>
          <a:p>
            <a:pPr marL="457200" indent="-457200"/>
            <a:r>
              <a:rPr lang="en-US" sz="2600" dirty="0" smtClean="0"/>
              <a:t>Tucker, SVD: slightly higher but still robust spectral fidelity.</a:t>
            </a:r>
          </a:p>
          <a:p>
            <a:pPr marL="457200" indent="-457200"/>
            <a:r>
              <a:rPr lang="en-US" sz="2600" dirty="0" smtClean="0"/>
              <a:t>INR ≈ 0.76 </a:t>
            </a:r>
            <a:r>
              <a:rPr lang="en-US" sz="2600" dirty="0" err="1" smtClean="0"/>
              <a:t>rad</a:t>
            </a:r>
            <a:r>
              <a:rPr lang="en-US" sz="2600" dirty="0" smtClean="0"/>
              <a:t>: nearly orthogonal spectral vectors.</a:t>
            </a:r>
          </a:p>
          <a:p>
            <a:pPr marL="457200" indent="-457200"/>
            <a:r>
              <a:rPr lang="en-US" sz="2600" dirty="0" smtClean="0"/>
              <a:t>Summary: CP best preserves spectral identity.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Figure 7 – Residual Histograms</a:t>
            </a:r>
            <a:endParaRPr lang="en-US" sz="3600" dirty="0"/>
          </a:p>
        </p:txBody>
      </p:sp>
      <p:pic>
        <p:nvPicPr>
          <p:cNvPr id="4" name="Content Placeholder 3" descr="residual_histogram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5000"/>
            <a:ext cx="8229600" cy="274320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TABLE </a:t>
            </a:r>
            <a:r>
              <a:rPr lang="en-US" sz="3200" dirty="0" smtClean="0"/>
              <a:t>4 </a:t>
            </a:r>
            <a:r>
              <a:rPr lang="en-US" sz="3200" dirty="0" smtClean="0"/>
              <a:t>— Data-Model Fit (Error Collapse Behavior)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Overfitting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Underfitting Risk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SVD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 (high-frequency loss)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Medium–High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 (rank-limited)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Very High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Also High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1" y="48006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Summarizes </a:t>
            </a:r>
            <a:r>
              <a:rPr lang="en-US" dirty="0" smtClean="0"/>
              <a:t>how quickly and cleanly residuals collapse toward zero for each method, distinguishing stable tensor reconstructions from INR’s inconsistent fit.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 Error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/>
            <a:r>
              <a:rPr lang="en-US" sz="2600" dirty="0" smtClean="0"/>
              <a:t>Residual Distributions:</a:t>
            </a:r>
          </a:p>
          <a:p>
            <a:pPr marL="457200" indent="-457200"/>
            <a:r>
              <a:rPr lang="en-US" sz="2600" dirty="0" smtClean="0"/>
              <a:t>SVD, Tucker: symmetric, Gaussian-like → unbiased reconstruction.</a:t>
            </a:r>
          </a:p>
          <a:p>
            <a:pPr marL="457200" indent="-457200"/>
            <a:r>
              <a:rPr lang="en-US" sz="2600" dirty="0" smtClean="0"/>
              <a:t>CP: slight skew from rank limitations.</a:t>
            </a:r>
          </a:p>
          <a:p>
            <a:pPr marL="457200" indent="-457200"/>
            <a:r>
              <a:rPr lang="en-US" sz="2600" dirty="0" smtClean="0"/>
              <a:t>INR: multimodal, dispersed → unstable fitting.</a:t>
            </a:r>
          </a:p>
          <a:p>
            <a:pPr marL="457200" indent="-457200"/>
            <a:r>
              <a:rPr lang="en-US" sz="2600" dirty="0" smtClean="0"/>
              <a:t>SAM Distributions:</a:t>
            </a:r>
          </a:p>
          <a:p>
            <a:pPr marL="457200" indent="-457200"/>
            <a:r>
              <a:rPr lang="en-US" sz="2600" dirty="0" smtClean="0"/>
              <a:t>SVD, CP, Tucker: tight clusters around low angles.</a:t>
            </a:r>
          </a:p>
          <a:p>
            <a:pPr marL="457200" indent="-457200"/>
            <a:r>
              <a:rPr lang="en-US" sz="2600" dirty="0" smtClean="0"/>
              <a:t>INR: wide, asymmetric cluster ~0.7 rad.</a:t>
            </a:r>
          </a:p>
          <a:p>
            <a:pPr marL="457200" indent="-457200"/>
            <a:r>
              <a:rPr lang="en-US" sz="2600" dirty="0" smtClean="0"/>
              <a:t>Residual and SAM distributions confirm stability hierarchy: Tucker ≈ SVD &gt; CP &gt;&gt; INR.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TABLE </a:t>
            </a:r>
            <a:r>
              <a:rPr lang="en-US" sz="3200" dirty="0" smtClean="0"/>
              <a:t>5 </a:t>
            </a:r>
            <a:r>
              <a:rPr lang="en-US" sz="3200" dirty="0" smtClean="0"/>
              <a:t>— Spatial Structure Preservation (SSIM &amp; Correlation Analysis)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Band-to-Band 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Spatial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Structural Notes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SVD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Mostly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Minor diagonal artifacts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 but noisy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Component mixing causes distortions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0.945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Best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 multi-linear structure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Collapsed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Bands become independent (diagonal-only)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57912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Aggregates </a:t>
            </a:r>
            <a:r>
              <a:rPr lang="en-US" dirty="0" smtClean="0"/>
              <a:t>SSIM and band-to-band correlation results to quantify how well each model preserves spatial patterns and global spectral structure.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Figure 8 – Special Correlation Heat maps</a:t>
            </a:r>
            <a:endParaRPr lang="en-US" sz="3200" dirty="0"/>
          </a:p>
        </p:txBody>
      </p:sp>
      <p:pic>
        <p:nvPicPr>
          <p:cNvPr id="4" name="Content Placeholder 3" descr="spectral_correlation_heatmap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1200"/>
            <a:ext cx="8229600" cy="38862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Spectral Correlation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600" dirty="0" smtClean="0"/>
              <a:t>Original cube: block-like band-to-band correlations (vegetation, soil, water features).</a:t>
            </a:r>
          </a:p>
          <a:p>
            <a:pPr marL="457200" indent="-457200"/>
            <a:r>
              <a:rPr lang="en-US" sz="2600" dirty="0" smtClean="0"/>
              <a:t>SVD, CP, Tucker: preserve global spectral correlation structure.</a:t>
            </a:r>
          </a:p>
          <a:p>
            <a:pPr marL="457200" indent="-457200"/>
            <a:r>
              <a:rPr lang="en-US" sz="2600" dirty="0" smtClean="0"/>
              <a:t>SVD shows slight diagonal artifacts.</a:t>
            </a:r>
          </a:p>
          <a:p>
            <a:pPr marL="457200" indent="-457200"/>
            <a:r>
              <a:rPr lang="en-US" sz="2600" dirty="0" smtClean="0"/>
              <a:t>INR collapses to diagonal → no cross-band dependency modeling.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9 - Summary Reconstruction</a:t>
            </a:r>
            <a:endParaRPr lang="en-US" dirty="0"/>
          </a:p>
        </p:txBody>
      </p:sp>
      <p:pic>
        <p:nvPicPr>
          <p:cNvPr id="4" name="Content Placeholder 3" descr="summary_reconstruction_band_1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8229600" cy="3886200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 Reconstruction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2800" dirty="0" smtClean="0"/>
              <a:t>Central band visualization of original vs. SVD, CP, Tucker, and Neural INR reconstructions.</a:t>
            </a:r>
          </a:p>
          <a:p>
            <a:pPr marL="457200" indent="-457200"/>
            <a:r>
              <a:rPr lang="en-US" sz="2800" dirty="0" smtClean="0"/>
              <a:t>SVD, CP, and Tucker are visually close to the original; Tucker best preserves fine spatial structure.</a:t>
            </a:r>
          </a:p>
          <a:p>
            <a:pPr marL="457200" indent="-457200"/>
            <a:r>
              <a:rPr lang="en-US" sz="2800" dirty="0" smtClean="0"/>
              <a:t>Neural INR shows noticeable artifacts and contrast distortions, consistent with its low PSNR/SSIM and high SAM.</a:t>
            </a:r>
          </a:p>
          <a:p>
            <a:pPr marL="457200" indent="-457200"/>
            <a:r>
              <a:rPr lang="en-US" sz="2800" dirty="0" smtClean="0"/>
              <a:t>Confirms that classical tensor models yield stable, high-fidelity reconstructions on Salinas.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TABLE </a:t>
            </a:r>
            <a:r>
              <a:rPr lang="en-US" dirty="0" smtClean="0"/>
              <a:t>6</a:t>
            </a:r>
            <a:r>
              <a:rPr lang="en-US" dirty="0" smtClean="0"/>
              <a:t> </a:t>
            </a:r>
            <a:r>
              <a:rPr lang="en-US" dirty="0" smtClean="0"/>
              <a:t>— Strengths &amp; Weaknesses (Qualitative)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Weaknesses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SVD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Fastest, stable, well-understood, excellent denoising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Ignores spectral–spatial coupling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spectral identity, physical endmembers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Sensitive to rank, initialization-dependent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SSIM, strong reconstruction, flexible ranks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Expensive, harder to interpret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Theoretically expressive, continuous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Failed on real data, lacks priors, noisy outputs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1" y="57150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Provides </a:t>
            </a:r>
            <a:r>
              <a:rPr lang="en-US" dirty="0" smtClean="0"/>
              <a:t>a qualitative comparison of robustness, interpretability, spatial–spectral fidelity, and failure modes for SVD, CP, Tucker, and Neural INR.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/>
            <a:r>
              <a:rPr lang="en-US" sz="2800" dirty="0" smtClean="0"/>
              <a:t>Integrate spectral inductive biases into INR (Fourier/wavelet encodings; tensor-initialized INR).</a:t>
            </a:r>
          </a:p>
          <a:p>
            <a:pPr marL="457200" indent="-457200"/>
            <a:r>
              <a:rPr lang="en-US" sz="2800" dirty="0" smtClean="0"/>
              <a:t>Explore physics-informed neural networks using absorption/transport models.</a:t>
            </a:r>
          </a:p>
          <a:p>
            <a:pPr marL="457200" indent="-457200"/>
            <a:r>
              <a:rPr lang="en-US" sz="2800" dirty="0" smtClean="0"/>
              <a:t>Investigate high-order tensor formats: Hierarchical Tucker, Tensor Trains.</a:t>
            </a:r>
          </a:p>
          <a:p>
            <a:pPr marL="457200" indent="-457200"/>
            <a:r>
              <a:rPr lang="en-US" sz="2800" dirty="0" smtClean="0"/>
              <a:t>GPU-accelerated SVD/CP for real-time airborne/satellite deployment.</a:t>
            </a:r>
          </a:p>
          <a:p>
            <a:pPr marL="457200" indent="-457200"/>
            <a:r>
              <a:rPr lang="en-US" sz="2800" dirty="0" smtClean="0"/>
              <a:t>Joint reconstruction-classification pipelines for supervised regularization.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TABLE </a:t>
            </a:r>
            <a:r>
              <a:rPr lang="en-US" sz="3200" dirty="0" smtClean="0"/>
              <a:t>7</a:t>
            </a:r>
            <a:r>
              <a:rPr lang="en-US" sz="3200" dirty="0" smtClean="0"/>
              <a:t>— </a:t>
            </a:r>
            <a:r>
              <a:rPr lang="en-US" sz="3200" dirty="0" smtClean="0"/>
              <a:t>Physical Meaningfulness</a:t>
            </a: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Matches Vegetation 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Soil Reflectance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Water Content 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Radiative Transfer Alignment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SVD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Excellent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Excellent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Best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Very High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Tucker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INR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4495800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Links the empirical findings to low-rank, interpretable decompositions and tensor–neural hybrids emphasized in MINER, WIRE, and DeepTensor-style models.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Alignment With Tensor–Neural Hyperspectral Research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/>
            <a:r>
              <a:rPr lang="en-US" sz="3300" dirty="0" smtClean="0"/>
              <a:t>MINER-style hybrid models: results motivate using CP/Tucker factors to initialize or regularize coordinate networks, combining low-rank tensor structure with neural flexibility.</a:t>
            </a:r>
          </a:p>
          <a:p>
            <a:pPr marL="457200" indent="-457200"/>
            <a:r>
              <a:rPr lang="en-US" sz="3300" dirty="0" smtClean="0"/>
              <a:t>WIRE-like spectral inductive biases: the failure of plain INR suggests the need for structured sinusoidal / Fourier parameterizations specifically tuned to hyperspectral spectra.</a:t>
            </a:r>
          </a:p>
          <a:p>
            <a:pPr marL="457200" indent="-457200"/>
            <a:r>
              <a:rPr lang="en-US" sz="3300" dirty="0" smtClean="0"/>
              <a:t>DeepTensor parallels: observed core </a:t>
            </a:r>
            <a:r>
              <a:rPr lang="en-US" sz="3300" dirty="0" err="1" smtClean="0"/>
              <a:t>sparsity</a:t>
            </a:r>
            <a:r>
              <a:rPr lang="en-US" sz="3300" dirty="0" smtClean="0"/>
              <a:t> and low-dimensional manifolds directly support low-rank neural tensor factorization approaches that encode material structure into the network’s latent factors.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/>
            <a:r>
              <a:rPr lang="en-US" sz="3000" dirty="0" smtClean="0"/>
              <a:t>Salinas provides a challenging, high-rank benchmark ideal for tensor comparison.</a:t>
            </a:r>
          </a:p>
          <a:p>
            <a:pPr marL="457200" indent="-457200"/>
            <a:r>
              <a:rPr lang="en-US" sz="3000" dirty="0" smtClean="0"/>
              <a:t>SVD: robust global reconstruction.</a:t>
            </a:r>
          </a:p>
          <a:p>
            <a:pPr marL="457200" indent="-457200"/>
            <a:r>
              <a:rPr lang="en-US" sz="3000" dirty="0" smtClean="0"/>
              <a:t>CP: strongest spectral interpretability.</a:t>
            </a:r>
          </a:p>
          <a:p>
            <a:pPr marL="457200" indent="-457200"/>
            <a:r>
              <a:rPr lang="en-US" sz="3000" dirty="0" smtClean="0"/>
              <a:t>Tucker: best overall spatial–spectral fidelity.</a:t>
            </a:r>
          </a:p>
          <a:p>
            <a:pPr marL="457200" indent="-457200"/>
            <a:r>
              <a:rPr lang="en-US" sz="3000" dirty="0" smtClean="0"/>
              <a:t>INR: fails without strong spectral inductive biases.</a:t>
            </a:r>
          </a:p>
          <a:p>
            <a:pPr marL="457200" indent="-457200"/>
            <a:r>
              <a:rPr lang="en-US" sz="3000" dirty="0" smtClean="0"/>
              <a:t>Classical tensor methods remain state-of-the-art; neural models require architectural adaptation.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1652</Words>
  <Application>Microsoft Office PowerPoint</Application>
  <PresentationFormat>On-screen Show (4:3)</PresentationFormat>
  <Paragraphs>320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Hyperspectral Tensor Decomposition &amp; Neural Implicit Modeling</vt:lpstr>
      <vt:lpstr>Dataset &amp; Motivation</vt:lpstr>
      <vt:lpstr>Processing Pipeline</vt:lpstr>
      <vt:lpstr>Reconstruction Methods</vt:lpstr>
      <vt:lpstr>TABLE 1 — Core Quantitative Model Comparison</vt:lpstr>
      <vt:lpstr>Figure 1-SVD Singular values</vt:lpstr>
      <vt:lpstr>SVD Analysis</vt:lpstr>
      <vt:lpstr>Figure 2 -CP Spectral signatures</vt:lpstr>
      <vt:lpstr>CP (PARAFAC) Analysis</vt:lpstr>
      <vt:lpstr>Figure 3 – Tucker Core Slices</vt:lpstr>
      <vt:lpstr>Tucker Analysis (Core Structure)</vt:lpstr>
      <vt:lpstr>Tucker Analysis (Performance)</vt:lpstr>
      <vt:lpstr>Figure 4 - Example spectra</vt:lpstr>
      <vt:lpstr>Neural INR Analysis</vt:lpstr>
      <vt:lpstr>Figure 5 – Metrics Comparison</vt:lpstr>
      <vt:lpstr>PSNR Comparison</vt:lpstr>
      <vt:lpstr>SSIM Comparison</vt:lpstr>
      <vt:lpstr>TABLE 2 — Error Distributions (from residual histograms &amp; SAM histograms)</vt:lpstr>
      <vt:lpstr>Figure 6 – SAM Histograms</vt:lpstr>
      <vt:lpstr>TABLE 3 — Spectral Fidelity (SAM + Per-Band Behavior)</vt:lpstr>
      <vt:lpstr>SAM Comparison</vt:lpstr>
      <vt:lpstr>Figure 7 – Residual Histograms</vt:lpstr>
      <vt:lpstr>TABLE 4 — Data-Model Fit (Error Collapse Behavior)</vt:lpstr>
      <vt:lpstr>Deep Error Analysis</vt:lpstr>
      <vt:lpstr>TABLE 5 — Spatial Structure Preservation (SSIM &amp; Correlation Analysis)</vt:lpstr>
      <vt:lpstr>Figure 8 – Special Correlation Heat maps</vt:lpstr>
      <vt:lpstr>Spectral Correlation Analysis</vt:lpstr>
      <vt:lpstr>Figure 9 - Summary Reconstruction</vt:lpstr>
      <vt:lpstr>Summary Reconstruction Comparison</vt:lpstr>
      <vt:lpstr>TABLE 6 — Strengths &amp; Weaknesses (Qualitative)</vt:lpstr>
      <vt:lpstr>Future Work</vt:lpstr>
      <vt:lpstr>TABLE 7— Physical Meaningfulness</vt:lpstr>
      <vt:lpstr>Alignment With Tensor–Neural Hyperspectral Research</vt:lpstr>
      <vt:lpstr>Conclusion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 spectral Tensor Decomposition &amp; Neural Implicit Modeling</dc:title>
  <dc:creator>aarav shah</dc:creator>
  <cp:lastModifiedBy>aarav shah</cp:lastModifiedBy>
  <cp:revision>17</cp:revision>
  <dcterms:created xsi:type="dcterms:W3CDTF">2025-12-02T08:32:48Z</dcterms:created>
  <dcterms:modified xsi:type="dcterms:W3CDTF">2025-12-02T12:03:13Z</dcterms:modified>
</cp:coreProperties>
</file>